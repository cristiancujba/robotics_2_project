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0" r:id="rId4"/>
    <p:sldId id="258" r:id="rId5"/>
    <p:sldId id="260" r:id="rId6"/>
    <p:sldId id="281" r:id="rId7"/>
    <p:sldId id="259" r:id="rId8"/>
    <p:sldId id="261" r:id="rId9"/>
    <p:sldId id="262" r:id="rId10"/>
    <p:sldId id="263" r:id="rId11"/>
    <p:sldId id="264" r:id="rId12"/>
    <p:sldId id="269" r:id="rId13"/>
    <p:sldId id="270" r:id="rId14"/>
    <p:sldId id="271" r:id="rId15"/>
    <p:sldId id="272" r:id="rId16"/>
    <p:sldId id="273" r:id="rId17"/>
    <p:sldId id="274" r:id="rId18"/>
    <p:sldId id="282" r:id="rId19"/>
    <p:sldId id="275" r:id="rId20"/>
    <p:sldId id="265" r:id="rId21"/>
    <p:sldId id="266" r:id="rId22"/>
    <p:sldId id="267" r:id="rId23"/>
    <p:sldId id="268" r:id="rId24"/>
    <p:sldId id="276" r:id="rId25"/>
    <p:sldId id="277" r:id="rId26"/>
    <p:sldId id="278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f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30000" t="64000" r="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173594"/>
          </a:xfrm>
        </p:spPr>
        <p:txBody>
          <a:bodyPr>
            <a:noAutofit/>
          </a:bodyPr>
          <a:lstStyle/>
          <a:p>
            <a:r>
              <a:rPr sz="6000" dirty="0">
                <a:solidFill>
                  <a:schemeClr val="accent1"/>
                </a:solidFill>
              </a:rPr>
              <a:t>Control Strategies for the Unicycle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Application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00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Challenge: "The Pac-man Challenge" using a unicycle robot.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Navigation: Driving the robot through a maze-like scenario to reach a central parking area.</a:t>
            </a:r>
          </a:p>
          <a:p>
            <a:endParaRPr lang="en-US" dirty="0"/>
          </a:p>
          <a:p>
            <a:r>
              <a:rPr lang="en-US" dirty="0"/>
              <a:t>Technical Scope: Combining continuous trajectory tracking with a final regulation task (parking in the box).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91DB-401D-3E07-BC2C-25AD3C1E2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E17A-32B9-4C40-A86F-E4F307C88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28B61-BE75-6176-76F4-F8932B879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Real-World Relevance: Simulating autonomous navigation for constrained environments, such as automated warehouse logistics or self-parking vehicles.</a:t>
            </a:r>
          </a:p>
          <a:p>
            <a:endParaRPr lang="en-US" dirty="0"/>
          </a:p>
          <a:p>
            <a:r>
              <a:rPr lang="en-US" dirty="0"/>
              <a:t>Algorithmic Validation: Bridging theoretical control models with practical applications by testing tuning and stability across different navigation phases.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167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Issues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Nonlinear system dynamics</a:t>
            </a:r>
          </a:p>
          <a:p>
            <a:pPr lvl="1"/>
            <a:r>
              <a:t>Nonholonomic constraint</a:t>
            </a:r>
          </a:p>
          <a:p>
            <a:pPr lvl="1"/>
            <a:r>
              <a:t>Trajectory tracking vs pose regulation</a:t>
            </a:r>
          </a:p>
          <a:p>
            <a:pPr lvl="1"/>
            <a:r>
              <a:t>Stability guarantees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Unicycle Kinematic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State: x, y, theta</a:t>
            </a:r>
          </a:p>
        </p:txBody>
      </p:sp>
      <p:pic>
        <p:nvPicPr>
          <p:cNvPr id="5" name="Immagine 4" descr="Immagine che contiene diagramma, linea, Disegno tecnico, Piano&#10;&#10;Il contenuto generato dall'IA potrebbe non essere corretto.">
            <a:extLst>
              <a:ext uri="{FF2B5EF4-FFF2-40B4-BE49-F238E27FC236}">
                <a16:creationId xmlns:a16="http://schemas.microsoft.com/office/drawing/2014/main" id="{55754B6C-5A16-ED44-4166-199A4A86A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98" y="2534756"/>
            <a:ext cx="8214360" cy="3322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E33A45-82B6-2A7A-C471-7317C9F54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r>
              <a:rPr lang="it-IT" dirty="0" err="1"/>
              <a:t>Overview</a:t>
            </a:r>
            <a:r>
              <a:rPr lang="it-IT" dirty="0"/>
              <a:t> of </a:t>
            </a:r>
            <a:r>
              <a:rPr lang="it-IT" dirty="0" err="1"/>
              <a:t>Proposed</a:t>
            </a:r>
            <a:r>
              <a:rPr lang="it-IT" dirty="0"/>
              <a:t> </a:t>
            </a:r>
            <a:r>
              <a:rPr lang="it-IT" dirty="0" err="1"/>
              <a:t>Approaches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366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B-Point control</a:t>
            </a:r>
            <a:endParaRPr dirty="0"/>
          </a:p>
        </p:txBody>
      </p:sp>
      <p:pic>
        <p:nvPicPr>
          <p:cNvPr id="5" name="Immagine 4" descr="Immagine che contiene diagramma, Piano, Disegno tecnico, schizzo&#10;&#10;Il contenuto generato dall'IA potrebbe non essere corretto.">
            <a:extLst>
              <a:ext uri="{FF2B5EF4-FFF2-40B4-BE49-F238E27FC236}">
                <a16:creationId xmlns:a16="http://schemas.microsoft.com/office/drawing/2014/main" id="{4586A4E6-45E1-2A65-5CD8-36A0988A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6664"/>
            <a:ext cx="9144000" cy="36586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B-Point Method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Trajectory tracking via virtual point</a:t>
            </a:r>
          </a:p>
          <a:p>
            <a:pPr lvl="1"/>
            <a:r>
              <a:t>Simplifies nonlinear control problem</a:t>
            </a:r>
          </a:p>
          <a:p>
            <a:pPr lvl="1"/>
            <a:r>
              <a:t>Geometric transformation approach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B-Point </a:t>
            </a:r>
            <a:r>
              <a:rPr lang="it-IT" dirty="0"/>
              <a:t>Method </a:t>
            </a:r>
            <a:r>
              <a:rPr dirty="0"/>
              <a:t>–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of virtual point ahead of robot</a:t>
            </a:r>
          </a:p>
          <a:p>
            <a:pPr lvl="1"/>
            <a:r>
              <a:t>Coordinate transformation</a:t>
            </a:r>
          </a:p>
          <a:p>
            <a:pPr lvl="1"/>
            <a:r>
              <a:t>Linearizable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B-Point – </a:t>
            </a:r>
            <a:r>
              <a:rPr lang="it-IT" dirty="0"/>
              <a:t>PROS &amp; CONS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9448"/>
          </a:xfrm>
        </p:spPr>
        <p:txBody>
          <a:bodyPr/>
          <a:lstStyle/>
          <a:p>
            <a:r>
              <a:rPr lang="it-IT" dirty="0"/>
              <a:t>PROS</a:t>
            </a:r>
            <a:endParaRPr dirty="0"/>
          </a:p>
          <a:p>
            <a:pPr lvl="1"/>
            <a:r>
              <a:rPr lang="it-IT" dirty="0"/>
              <a:t>Easy to </a:t>
            </a:r>
            <a:r>
              <a:rPr lang="it-IT" dirty="0" err="1"/>
              <a:t>implement</a:t>
            </a:r>
            <a:endParaRPr lang="it-IT" dirty="0"/>
          </a:p>
          <a:p>
            <a:pPr lvl="1"/>
            <a:r>
              <a:rPr lang="it-IT" dirty="0" err="1"/>
              <a:t>It</a:t>
            </a:r>
            <a:r>
              <a:rPr lang="it-IT" dirty="0"/>
              <a:t> works </a:t>
            </a:r>
            <a:r>
              <a:rPr lang="it-IT" dirty="0" err="1"/>
              <a:t>great</a:t>
            </a:r>
            <a:r>
              <a:rPr lang="it-IT" dirty="0"/>
              <a:t> in </a:t>
            </a:r>
            <a:r>
              <a:rPr lang="it-IT" dirty="0" err="1"/>
              <a:t>smooth</a:t>
            </a:r>
            <a:r>
              <a:rPr lang="it-IT" dirty="0"/>
              <a:t> </a:t>
            </a:r>
            <a:r>
              <a:rPr lang="it-IT" dirty="0" err="1"/>
              <a:t>trajectory</a:t>
            </a:r>
            <a:endParaRPr lang="it-IT" dirty="0"/>
          </a:p>
          <a:p>
            <a:pPr marL="457200" lvl="1" indent="0">
              <a:buNone/>
            </a:pPr>
            <a:endParaRPr lang="it-IT" dirty="0"/>
          </a:p>
          <a:p>
            <a:pPr marL="457200" lvl="1" indent="0">
              <a:buNone/>
            </a:pPr>
            <a:endParaRPr lang="it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D1348F-0C51-7574-645B-F1550AD6E57A}"/>
              </a:ext>
            </a:extLst>
          </p:cNvPr>
          <p:cNvSpPr txBox="1">
            <a:spLocks/>
          </p:cNvSpPr>
          <p:nvPr/>
        </p:nvSpPr>
        <p:spPr>
          <a:xfrm>
            <a:off x="457200" y="3752089"/>
            <a:ext cx="8229600" cy="1965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</a:t>
            </a:r>
          </a:p>
          <a:p>
            <a:pPr lvl="1"/>
            <a:r>
              <a:rPr lang="en-US" dirty="0" err="1"/>
              <a:t>Tipically</a:t>
            </a:r>
            <a:r>
              <a:rPr lang="en-US" dirty="0"/>
              <a:t> local stability</a:t>
            </a:r>
          </a:p>
          <a:p>
            <a:pPr lvl="1"/>
            <a:r>
              <a:rPr lang="en-US" dirty="0"/>
              <a:t>Dependency on the b point distance</a:t>
            </a:r>
          </a:p>
          <a:p>
            <a:pPr marL="457200" lvl="1" indent="0">
              <a:buFont typeface="Arial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B-Point –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Plot: desired vs actual trajectory (x-y)</a:t>
            </a:r>
          </a:p>
          <a:p>
            <a:pPr lvl="1"/>
            <a:r>
              <a:t>Plot: tracking error over time</a:t>
            </a:r>
          </a:p>
          <a:p>
            <a:pPr lvl="1"/>
            <a:r>
              <a:t>Plot: control inputs v(t), omega(t)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State Error Feedback Linear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Trajectory tracking</a:t>
            </a:r>
          </a:p>
          <a:p>
            <a:pPr lvl="1"/>
            <a:r>
              <a:t>Feedback linearization</a:t>
            </a:r>
          </a:p>
          <a:p>
            <a:pPr lvl="1"/>
            <a:r>
              <a:t>Differential flatness property</a:t>
            </a:r>
          </a:p>
        </p:txBody>
      </p:sp>
      <p:pic>
        <p:nvPicPr>
          <p:cNvPr id="5" name="Immagine 4" descr="Immagine che contiene diagramma, Piano, Disegno tecnico, schematico&#10;&#10;Il contenuto generato dall'IA potrebbe non essere corretto.">
            <a:extLst>
              <a:ext uri="{FF2B5EF4-FFF2-40B4-BE49-F238E27FC236}">
                <a16:creationId xmlns:a16="http://schemas.microsoft.com/office/drawing/2014/main" id="{D55360EC-1118-02D5-39BF-570499FED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7215"/>
            <a:ext cx="9144000" cy="27771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State </a:t>
            </a:r>
            <a:r>
              <a:rPr lang="it-IT" dirty="0" err="1"/>
              <a:t>Error</a:t>
            </a:r>
            <a:r>
              <a:rPr lang="it-IT" dirty="0"/>
              <a:t> Feedback Linear Method – Theory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1952"/>
            <a:ext cx="8229600" cy="4224211"/>
          </a:xfrm>
        </p:spPr>
        <p:txBody>
          <a:bodyPr/>
          <a:lstStyle/>
          <a:p>
            <a:pPr lvl="1"/>
            <a:r>
              <a:rPr lang="it-IT" dirty="0" err="1"/>
              <a:t>Differential</a:t>
            </a:r>
            <a:r>
              <a:rPr lang="it-IT" dirty="0"/>
              <a:t> </a:t>
            </a:r>
            <a:r>
              <a:rPr lang="it-IT" dirty="0" err="1"/>
              <a:t>flatness</a:t>
            </a:r>
            <a:r>
              <a:rPr lang="it-IT" dirty="0"/>
              <a:t> </a:t>
            </a:r>
            <a:r>
              <a:rPr lang="it-IT" dirty="0" err="1"/>
              <a:t>property</a:t>
            </a:r>
            <a:r>
              <a:rPr lang="it-IT" dirty="0"/>
              <a:t> </a:t>
            </a:r>
          </a:p>
          <a:p>
            <a:pPr lvl="1"/>
            <a:r>
              <a:rPr lang="en-US" dirty="0"/>
              <a:t>Feedback linearization of error dynamics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it-IT" dirty="0"/>
              <a:t>PROS</a:t>
            </a:r>
            <a:endParaRPr dirty="0"/>
          </a:p>
          <a:p>
            <a:pPr lvl="1"/>
            <a:r>
              <a:rPr lang="en-US" dirty="0"/>
              <a:t>Systematic control design</a:t>
            </a:r>
          </a:p>
          <a:p>
            <a:pPr lvl="1"/>
            <a:r>
              <a:rPr lang="en-US" dirty="0"/>
              <a:t>Linear error dynamics</a:t>
            </a:r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12E8E6-A497-EBB9-DA6E-58D337E6114B}"/>
              </a:ext>
            </a:extLst>
          </p:cNvPr>
          <p:cNvSpPr txBox="1">
            <a:spLocks/>
          </p:cNvSpPr>
          <p:nvPr/>
        </p:nvSpPr>
        <p:spPr>
          <a:xfrm>
            <a:off x="457200" y="1570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A3357601-F094-B76A-0166-F91357DA4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Error Feedback Linear Method – PROS &amp; CONS</a:t>
            </a:r>
            <a:endParaRPr lang="it-IT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6D29AAB-093A-2810-401D-DEDBC10ACB16}"/>
              </a:ext>
            </a:extLst>
          </p:cNvPr>
          <p:cNvSpPr txBox="1">
            <a:spLocks/>
          </p:cNvSpPr>
          <p:nvPr/>
        </p:nvSpPr>
        <p:spPr>
          <a:xfrm>
            <a:off x="457200" y="3727705"/>
            <a:ext cx="82296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</a:t>
            </a:r>
          </a:p>
          <a:p>
            <a:pPr lvl="1"/>
            <a:r>
              <a:rPr lang="en-US" dirty="0"/>
              <a:t>Model accuracy dependent</a:t>
            </a:r>
          </a:p>
          <a:p>
            <a:pPr lvl="1"/>
            <a:r>
              <a:rPr lang="en-US" dirty="0"/>
              <a:t>Local stability guarantees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Error Feedback Linear Method </a:t>
            </a:r>
            <a:r>
              <a:rPr dirty="0"/>
              <a:t>–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Plot: tracking error over time</a:t>
            </a:r>
          </a:p>
          <a:p>
            <a:pPr lvl="1"/>
            <a:r>
              <a:rPr dirty="0"/>
              <a:t>Plot: desired vs actual trajectory</a:t>
            </a:r>
          </a:p>
          <a:p>
            <a:pPr lvl="1"/>
            <a:r>
              <a:rPr dirty="0"/>
              <a:t>Comparison with B-point method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State Error Feedback Nonlinear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nonlinear feedback design</a:t>
            </a:r>
          </a:p>
          <a:p>
            <a:pPr lvl="1"/>
            <a:r>
              <a:t>Improved robustness potential</a:t>
            </a:r>
          </a:p>
        </p:txBody>
      </p:sp>
      <p:pic>
        <p:nvPicPr>
          <p:cNvPr id="5" name="Immagine 4" descr="Immagine che contiene diagramma, Piano, schizz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870CD30C-E87A-CA7A-1C86-153FA3BDA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0930"/>
            <a:ext cx="9144000" cy="26811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Error Feedback Nonlinear – Theory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3872"/>
            <a:ext cx="8229600" cy="4102291"/>
          </a:xfrm>
        </p:spPr>
        <p:txBody>
          <a:bodyPr/>
          <a:lstStyle/>
          <a:p>
            <a:r>
              <a:rPr lang="en-US" dirty="0"/>
              <a:t>Nonlinear error dynamics shaping</a:t>
            </a:r>
          </a:p>
          <a:p>
            <a:r>
              <a:rPr lang="en-US" dirty="0"/>
              <a:t>Lyapunov-based stability design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0C0CB-B11A-CE76-2334-F6A6BF459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E06C-8A7B-0997-0618-1BB4EBA3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Error Feedback Nonlinear – PROS &amp; CONS</a:t>
            </a:r>
            <a:endParaRPr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09E641F-8A64-F870-806E-3A647290B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it-IT" dirty="0"/>
              <a:t>PROS</a:t>
            </a:r>
          </a:p>
          <a:p>
            <a:pPr lvl="1"/>
            <a:r>
              <a:rPr lang="it-IT" dirty="0" err="1"/>
              <a:t>Improved</a:t>
            </a:r>
            <a:r>
              <a:rPr lang="it-IT" dirty="0"/>
              <a:t> global </a:t>
            </a:r>
            <a:r>
              <a:rPr lang="it-IT" dirty="0" err="1"/>
              <a:t>stability</a:t>
            </a:r>
            <a:r>
              <a:rPr lang="it-IT" dirty="0"/>
              <a:t> </a:t>
            </a:r>
            <a:r>
              <a:rPr lang="it-IT" dirty="0" err="1"/>
              <a:t>properties</a:t>
            </a:r>
            <a:endParaRPr lang="it-IT" dirty="0"/>
          </a:p>
          <a:p>
            <a:pPr lvl="1"/>
            <a:r>
              <a:rPr lang="it-IT" dirty="0"/>
              <a:t>Better </a:t>
            </a:r>
            <a:r>
              <a:rPr lang="it-IT" dirty="0" err="1"/>
              <a:t>nonlinear</a:t>
            </a:r>
            <a:r>
              <a:rPr lang="it-IT" dirty="0"/>
              <a:t> </a:t>
            </a:r>
            <a:r>
              <a:rPr lang="it-IT" dirty="0" err="1"/>
              <a:t>behaviour</a:t>
            </a:r>
            <a:r>
              <a:rPr lang="it-IT" dirty="0"/>
              <a:t> </a:t>
            </a:r>
            <a:r>
              <a:rPr lang="it-IT" dirty="0" err="1"/>
              <a:t>handling</a:t>
            </a:r>
            <a:endParaRPr lang="it-IT" dirty="0"/>
          </a:p>
          <a:p>
            <a:pPr lvl="1"/>
            <a:endParaRPr lang="it-IT" dirty="0"/>
          </a:p>
        </p:txBody>
      </p:sp>
      <p:sp>
        <p:nvSpPr>
          <p:cNvPr id="14" name="Segnaposto contenuto 5">
            <a:extLst>
              <a:ext uri="{FF2B5EF4-FFF2-40B4-BE49-F238E27FC236}">
                <a16:creationId xmlns:a16="http://schemas.microsoft.com/office/drawing/2014/main" id="{857383B5-5387-DF3B-7EDB-5CE9C2F3FBEF}"/>
              </a:ext>
            </a:extLst>
          </p:cNvPr>
          <p:cNvSpPr txBox="1">
            <a:spLocks/>
          </p:cNvSpPr>
          <p:nvPr/>
        </p:nvSpPr>
        <p:spPr>
          <a:xfrm>
            <a:off x="457200" y="3825241"/>
            <a:ext cx="82296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CONS</a:t>
            </a:r>
          </a:p>
          <a:p>
            <a:pPr lvl="1"/>
            <a:r>
              <a:rPr lang="en-US" dirty="0"/>
              <a:t>More complex controller design</a:t>
            </a:r>
          </a:p>
          <a:p>
            <a:pPr lvl="1"/>
            <a:r>
              <a:rPr lang="en-US" dirty="0"/>
              <a:t>Harder stability analysis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829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Error Feedback Nonlinear –</a:t>
            </a:r>
            <a:r>
              <a:rPr dirty="0"/>
              <a:t>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Plot: tracking error</a:t>
            </a:r>
          </a:p>
          <a:p>
            <a:pPr lvl="1"/>
            <a:r>
              <a:t>RMS error comparison</a:t>
            </a:r>
          </a:p>
          <a:p>
            <a:pPr lvl="1"/>
            <a:r>
              <a:t>Control effort comparison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Pose Regulation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Stabilize robot to target pose</a:t>
            </a:r>
          </a:p>
          <a:p>
            <a:pPr lvl="1"/>
            <a:r>
              <a:t>Fixed point regulation problem</a:t>
            </a:r>
          </a:p>
        </p:txBody>
      </p:sp>
      <p:pic>
        <p:nvPicPr>
          <p:cNvPr id="5" name="Immagine 4" descr="Immagine che contiene diagramma, linea, schizzo, Piano&#10;&#10;Il contenuto generato dall'IA potrebbe non essere corretto.">
            <a:extLst>
              <a:ext uri="{FF2B5EF4-FFF2-40B4-BE49-F238E27FC236}">
                <a16:creationId xmlns:a16="http://schemas.microsoft.com/office/drawing/2014/main" id="{64139DCD-76AA-C9E7-D6F9-C06432B82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6785"/>
            <a:ext cx="9144000" cy="30620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Pose </a:t>
            </a:r>
            <a:r>
              <a:rPr lang="it-IT" dirty="0" err="1"/>
              <a:t>Regulation</a:t>
            </a:r>
            <a:r>
              <a:rPr lang="it-IT" dirty="0"/>
              <a:t> - Theory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Polar coordinate error transformation</a:t>
            </a:r>
          </a:p>
          <a:p>
            <a:pPr lvl="1"/>
            <a:r>
              <a:rPr lang="en-US" dirty="0"/>
              <a:t>Nonlinear feedback stabilization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Pose Regulation –</a:t>
            </a:r>
            <a:r>
              <a:rPr lang="it-IT" dirty="0"/>
              <a:t> </a:t>
            </a:r>
            <a:r>
              <a:rPr lang="it-IT" dirty="0" err="1"/>
              <a:t>difficulties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it-IT" dirty="0" err="1"/>
              <a:t>Nonholonomic</a:t>
            </a:r>
            <a:r>
              <a:rPr lang="it-IT" dirty="0"/>
              <a:t> </a:t>
            </a:r>
            <a:r>
              <a:rPr lang="it-IT" dirty="0" err="1"/>
              <a:t>motion</a:t>
            </a:r>
            <a:r>
              <a:rPr lang="it-IT" dirty="0"/>
              <a:t> </a:t>
            </a:r>
            <a:r>
              <a:rPr lang="it-IT" dirty="0" err="1"/>
              <a:t>constraints</a:t>
            </a:r>
            <a:endParaRPr lang="it-IT" dirty="0"/>
          </a:p>
          <a:p>
            <a:pPr lvl="1"/>
            <a:r>
              <a:rPr lang="it-IT" dirty="0" err="1"/>
              <a:t>Singularities</a:t>
            </a:r>
            <a:r>
              <a:rPr lang="it-IT" dirty="0"/>
              <a:t> in </a:t>
            </a:r>
            <a:r>
              <a:rPr lang="it-IT" dirty="0" err="1"/>
              <a:t>polar</a:t>
            </a:r>
            <a:r>
              <a:rPr lang="it-IT" dirty="0"/>
              <a:t> </a:t>
            </a:r>
            <a:r>
              <a:rPr lang="it-IT" dirty="0" err="1"/>
              <a:t>coordinates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Pose Regulation –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Plot: rho(t), alpha(t), beta(t)</a:t>
            </a:r>
          </a:p>
          <a:p>
            <a:pPr lvl="1"/>
            <a:r>
              <a:t>Plot: trajectory convergence (x-y)</a:t>
            </a:r>
          </a:p>
          <a:p>
            <a:pPr lvl="1"/>
            <a:r>
              <a:t>Plot: theta(t) convergence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Complexity comparison</a:t>
            </a:r>
          </a:p>
          <a:p>
            <a:pPr lvl="1"/>
            <a:r>
              <a:t>Stability properties</a:t>
            </a:r>
          </a:p>
          <a:p>
            <a:pPr lvl="1"/>
            <a:r>
              <a:t>Tracking precision</a:t>
            </a:r>
          </a:p>
          <a:p>
            <a:pPr lvl="1"/>
            <a:r>
              <a:t>Robustness differences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Trade-off simplicity vs performance</a:t>
            </a:r>
          </a:p>
          <a:p>
            <a:pPr lvl="1"/>
            <a:r>
              <a:t>Sensitivity to gains</a:t>
            </a:r>
          </a:p>
          <a:p>
            <a:pPr lvl="1"/>
            <a:r>
              <a:t>Practical applicability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all approaches</a:t>
            </a:r>
          </a:p>
          <a:p>
            <a:pPr lvl="1"/>
            <a:r>
              <a:t>Performance comparison</a:t>
            </a:r>
          </a:p>
          <a:p>
            <a:pPr lvl="1"/>
            <a:r>
              <a:t>Best performing strategy (based on results)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455</Words>
  <Application>Microsoft Office PowerPoint</Application>
  <PresentationFormat>Presentazione su schermo (4:3)</PresentationFormat>
  <Paragraphs>100</Paragraphs>
  <Slides>26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Control Strategies for the Unicycle Model</vt:lpstr>
      <vt:lpstr>Application Context</vt:lpstr>
      <vt:lpstr>Motivation</vt:lpstr>
      <vt:lpstr>Main Issues Addressed</vt:lpstr>
      <vt:lpstr>Unicycle Kinematic Model</vt:lpstr>
      <vt:lpstr>Overview of Proposed Approaches</vt:lpstr>
      <vt:lpstr>B-Point control</vt:lpstr>
      <vt:lpstr>B-Point Method – Objective</vt:lpstr>
      <vt:lpstr>B-Point Method – Theory</vt:lpstr>
      <vt:lpstr>B-Point – PROS &amp; CONS</vt:lpstr>
      <vt:lpstr>B-Point – Results</vt:lpstr>
      <vt:lpstr>State Error Feedback Linear – Objective</vt:lpstr>
      <vt:lpstr>State Error Feedback Linear Method – Theory</vt:lpstr>
      <vt:lpstr>State Error Feedback Linear Method – PROS &amp; CONS</vt:lpstr>
      <vt:lpstr>State Error Feedback Linear Method – Results</vt:lpstr>
      <vt:lpstr>State Error Feedback Nonlinear – Objective</vt:lpstr>
      <vt:lpstr>State Error Feedback Nonlinear – Theory</vt:lpstr>
      <vt:lpstr>State Error Feedback Nonlinear – PROS &amp; CONS</vt:lpstr>
      <vt:lpstr>State Error Feedback Nonlinear – Results</vt:lpstr>
      <vt:lpstr>Pose Regulation – Objective</vt:lpstr>
      <vt:lpstr>Pose Regulation - Theory</vt:lpstr>
      <vt:lpstr>Pose Regulation – difficulties</vt:lpstr>
      <vt:lpstr>Pose Regulation – Results</vt:lpstr>
      <vt:lpstr>Comparative Analysis</vt:lpstr>
      <vt:lpstr>Discussion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Matteo Polo</dc:creator>
  <cp:keywords/>
  <dc:description>generated using python-pptx</dc:description>
  <cp:lastModifiedBy>Matteo Polo</cp:lastModifiedBy>
  <cp:revision>3</cp:revision>
  <dcterms:created xsi:type="dcterms:W3CDTF">2013-01-27T09:14:16Z</dcterms:created>
  <dcterms:modified xsi:type="dcterms:W3CDTF">2026-02-21T10:42:49Z</dcterms:modified>
  <cp:category/>
</cp:coreProperties>
</file>